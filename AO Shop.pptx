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1D57036-D416-4B15-A555-CFDDE193DEF0}">
          <p14:sldIdLst>
            <p14:sldId id="256"/>
          </p14:sldIdLst>
        </p14:section>
        <p14:section name="Untitled Section" id="{C0AB5BFD-C0EA-4064-81ED-BEA5716A1182}">
          <p14:sldIdLst>
            <p14:sldId id="258"/>
            <p14:sldId id="267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Untitled Section" id="{E0EDDBD5-A104-498F-8068-B80161CD6D56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B929BF-400B-42F4-8BAE-5A03C220AE8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7EDFE7-0250-4954-A935-A8CA63A59A4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1. Portefeuille Virtuel (Solde) : Les transactions ne se font pas par carte bancaire. Les utilisateurs consomment un solde virtuel pour leurs achats et abonnements.</a:t>
          </a:r>
          <a:endParaRPr lang="en-US" dirty="0"/>
        </a:p>
      </dgm:t>
    </dgm:pt>
    <dgm:pt modelId="{753A0166-72F5-4E28-B10F-4777636DE8F4}" type="parTrans" cxnId="{F67532A1-7551-4E2A-B312-88AAC580BC12}">
      <dgm:prSet/>
      <dgm:spPr/>
      <dgm:t>
        <a:bodyPr/>
        <a:lstStyle/>
        <a:p>
          <a:endParaRPr lang="en-US"/>
        </a:p>
      </dgm:t>
    </dgm:pt>
    <dgm:pt modelId="{F38533F2-E860-489D-AEBF-365F12BD6B19}" type="sibTrans" cxnId="{F67532A1-7551-4E2A-B312-88AAC580BC12}">
      <dgm:prSet/>
      <dgm:spPr/>
      <dgm:t>
        <a:bodyPr/>
        <a:lstStyle/>
        <a:p>
          <a:endParaRPr lang="en-US"/>
        </a:p>
      </dgm:t>
    </dgm:pt>
    <dgm:pt modelId="{45E6A1F9-8213-47E1-8A39-54A1B80D0D4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2. Remises Dynamiques : Les prix s'adaptent automatiquement à la baisse si l'utilisateur possède un abonnement VIP ou PRO actif.</a:t>
          </a:r>
          <a:endParaRPr lang="en-US"/>
        </a:p>
      </dgm:t>
    </dgm:pt>
    <dgm:pt modelId="{A7006097-8B5D-4BC7-AB01-6D51142B0288}" type="parTrans" cxnId="{34C82965-5AC1-4AF9-9F69-274B1277EF90}">
      <dgm:prSet/>
      <dgm:spPr/>
      <dgm:t>
        <a:bodyPr/>
        <a:lstStyle/>
        <a:p>
          <a:endParaRPr lang="en-US"/>
        </a:p>
      </dgm:t>
    </dgm:pt>
    <dgm:pt modelId="{DCBAB637-5176-40DF-A3F0-32FCAA903C98}" type="sibTrans" cxnId="{34C82965-5AC1-4AF9-9F69-274B1277EF90}">
      <dgm:prSet/>
      <dgm:spPr/>
      <dgm:t>
        <a:bodyPr/>
        <a:lstStyle/>
        <a:p>
          <a:endParaRPr lang="en-US"/>
        </a:p>
      </dgm:t>
    </dgm:pt>
    <dgm:pt modelId="{1E0BBC1A-D353-46C9-9345-BF14CDE167DE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3. Gestion de Stock Temps Réel : Chaque commande validée décrémente instantanément le stock disponible pour éviter le surbooking.</a:t>
          </a:r>
          <a:endParaRPr lang="en-US"/>
        </a:p>
      </dgm:t>
    </dgm:pt>
    <dgm:pt modelId="{6050E262-B006-4065-9A6D-6ADBF2FEC856}" type="parTrans" cxnId="{387714FA-76EA-4E66-B27A-7A94682373B3}">
      <dgm:prSet/>
      <dgm:spPr/>
      <dgm:t>
        <a:bodyPr/>
        <a:lstStyle/>
        <a:p>
          <a:endParaRPr lang="en-US"/>
        </a:p>
      </dgm:t>
    </dgm:pt>
    <dgm:pt modelId="{2D39BED2-ABC1-429F-ACDC-5ABB6C5243A6}" type="sibTrans" cxnId="{387714FA-76EA-4E66-B27A-7A94682373B3}">
      <dgm:prSet/>
      <dgm:spPr/>
      <dgm:t>
        <a:bodyPr/>
        <a:lstStyle/>
        <a:p>
          <a:endParaRPr lang="en-US"/>
        </a:p>
      </dgm:t>
    </dgm:pt>
    <dgm:pt modelId="{2AF0CF57-A923-4ABE-BDB2-C3411482104C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4. Fidélisation (Gamification) : L'intégration de la 'Roulette du Jour' génère du trafic quotidien en offrant du solde virtuel pour inciter à l'achat.</a:t>
          </a:r>
          <a:endParaRPr lang="en-US"/>
        </a:p>
      </dgm:t>
    </dgm:pt>
    <dgm:pt modelId="{24BD81CB-0B02-43BB-A580-5CE2A2B01297}" type="parTrans" cxnId="{B77BB494-225A-4686-8E5F-59E0946BD34B}">
      <dgm:prSet/>
      <dgm:spPr/>
      <dgm:t>
        <a:bodyPr/>
        <a:lstStyle/>
        <a:p>
          <a:endParaRPr lang="en-US"/>
        </a:p>
      </dgm:t>
    </dgm:pt>
    <dgm:pt modelId="{913A9179-DE9C-47F9-AF81-AA783CB9FFFB}" type="sibTrans" cxnId="{B77BB494-225A-4686-8E5F-59E0946BD34B}">
      <dgm:prSet/>
      <dgm:spPr/>
      <dgm:t>
        <a:bodyPr/>
        <a:lstStyle/>
        <a:p>
          <a:endParaRPr lang="en-US"/>
        </a:p>
      </dgm:t>
    </dgm:pt>
    <dgm:pt modelId="{98FDEB6E-99BF-41C8-9230-68F50927FD0C}" type="pres">
      <dgm:prSet presAssocID="{C4B929BF-400B-42F4-8BAE-5A03C220AE83}" presName="root" presStyleCnt="0">
        <dgm:presLayoutVars>
          <dgm:dir/>
          <dgm:resizeHandles val="exact"/>
        </dgm:presLayoutVars>
      </dgm:prSet>
      <dgm:spPr/>
    </dgm:pt>
    <dgm:pt modelId="{68E9963C-0FF0-472F-B77C-BFAD2DAFDC94}" type="pres">
      <dgm:prSet presAssocID="{6F7EDFE7-0250-4954-A935-A8CA63A59A4A}" presName="compNode" presStyleCnt="0"/>
      <dgm:spPr/>
    </dgm:pt>
    <dgm:pt modelId="{8415D3A7-AFFC-4B95-952C-58FD0EAEFEA7}" type="pres">
      <dgm:prSet presAssocID="{6F7EDFE7-0250-4954-A935-A8CA63A59A4A}" presName="bgRect" presStyleLbl="bgShp" presStyleIdx="0" presStyleCnt="4"/>
      <dgm:spPr/>
    </dgm:pt>
    <dgm:pt modelId="{0DB43DF1-333A-4C7B-AA3E-5728436398D9}" type="pres">
      <dgm:prSet presAssocID="{6F7EDFE7-0250-4954-A935-A8CA63A59A4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35C11BDD-86C9-4069-86A8-0F4E4D4080BC}" type="pres">
      <dgm:prSet presAssocID="{6F7EDFE7-0250-4954-A935-A8CA63A59A4A}" presName="spaceRect" presStyleCnt="0"/>
      <dgm:spPr/>
    </dgm:pt>
    <dgm:pt modelId="{E732D4D0-0EE9-4C41-8827-9F202979330C}" type="pres">
      <dgm:prSet presAssocID="{6F7EDFE7-0250-4954-A935-A8CA63A59A4A}" presName="parTx" presStyleLbl="revTx" presStyleIdx="0" presStyleCnt="4">
        <dgm:presLayoutVars>
          <dgm:chMax val="0"/>
          <dgm:chPref val="0"/>
        </dgm:presLayoutVars>
      </dgm:prSet>
      <dgm:spPr/>
    </dgm:pt>
    <dgm:pt modelId="{8E2C0CD4-1018-496D-8ED3-4871303B3100}" type="pres">
      <dgm:prSet presAssocID="{F38533F2-E860-489D-AEBF-365F12BD6B19}" presName="sibTrans" presStyleCnt="0"/>
      <dgm:spPr/>
    </dgm:pt>
    <dgm:pt modelId="{50F415BC-2E53-4836-8E80-327AFDC430C9}" type="pres">
      <dgm:prSet presAssocID="{45E6A1F9-8213-47E1-8A39-54A1B80D0D40}" presName="compNode" presStyleCnt="0"/>
      <dgm:spPr/>
    </dgm:pt>
    <dgm:pt modelId="{393A73A6-EFCE-451D-B1FC-DD906228A55A}" type="pres">
      <dgm:prSet presAssocID="{45E6A1F9-8213-47E1-8A39-54A1B80D0D40}" presName="bgRect" presStyleLbl="bgShp" presStyleIdx="1" presStyleCnt="4"/>
      <dgm:spPr/>
    </dgm:pt>
    <dgm:pt modelId="{B3D60B2D-65D4-4978-B465-946D91CEB8A6}" type="pres">
      <dgm:prSet presAssocID="{45E6A1F9-8213-47E1-8A39-54A1B80D0D4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08F6E3A8-F0E6-4582-A981-B9E2B9B777B4}" type="pres">
      <dgm:prSet presAssocID="{45E6A1F9-8213-47E1-8A39-54A1B80D0D40}" presName="spaceRect" presStyleCnt="0"/>
      <dgm:spPr/>
    </dgm:pt>
    <dgm:pt modelId="{8E636E7E-74AE-432C-9C1B-68A09B620405}" type="pres">
      <dgm:prSet presAssocID="{45E6A1F9-8213-47E1-8A39-54A1B80D0D40}" presName="parTx" presStyleLbl="revTx" presStyleIdx="1" presStyleCnt="4">
        <dgm:presLayoutVars>
          <dgm:chMax val="0"/>
          <dgm:chPref val="0"/>
        </dgm:presLayoutVars>
      </dgm:prSet>
      <dgm:spPr/>
    </dgm:pt>
    <dgm:pt modelId="{5686265D-65D9-4CB7-AA86-E55EAED7E267}" type="pres">
      <dgm:prSet presAssocID="{DCBAB637-5176-40DF-A3F0-32FCAA903C98}" presName="sibTrans" presStyleCnt="0"/>
      <dgm:spPr/>
    </dgm:pt>
    <dgm:pt modelId="{C4F36032-25BB-4B88-B361-7625F4D13CF4}" type="pres">
      <dgm:prSet presAssocID="{1E0BBC1A-D353-46C9-9345-BF14CDE167DE}" presName="compNode" presStyleCnt="0"/>
      <dgm:spPr/>
    </dgm:pt>
    <dgm:pt modelId="{4CCA2F02-D699-40EC-8CEB-F5C23426DF64}" type="pres">
      <dgm:prSet presAssocID="{1E0BBC1A-D353-46C9-9345-BF14CDE167DE}" presName="bgRect" presStyleLbl="bgShp" presStyleIdx="2" presStyleCnt="4"/>
      <dgm:spPr/>
    </dgm:pt>
    <dgm:pt modelId="{BFD8BE31-ADAC-4A35-A831-3943E667FB60}" type="pres">
      <dgm:prSet presAssocID="{1E0BBC1A-D353-46C9-9345-BF14CDE167D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3DD1180-52C6-4C8A-B92B-20CDF9224B35}" type="pres">
      <dgm:prSet presAssocID="{1E0BBC1A-D353-46C9-9345-BF14CDE167DE}" presName="spaceRect" presStyleCnt="0"/>
      <dgm:spPr/>
    </dgm:pt>
    <dgm:pt modelId="{DE35DC5E-D57E-4A77-B873-8F26824938F4}" type="pres">
      <dgm:prSet presAssocID="{1E0BBC1A-D353-46C9-9345-BF14CDE167DE}" presName="parTx" presStyleLbl="revTx" presStyleIdx="2" presStyleCnt="4">
        <dgm:presLayoutVars>
          <dgm:chMax val="0"/>
          <dgm:chPref val="0"/>
        </dgm:presLayoutVars>
      </dgm:prSet>
      <dgm:spPr/>
    </dgm:pt>
    <dgm:pt modelId="{3770FC41-5E94-43D4-A9ED-4D4529EF842C}" type="pres">
      <dgm:prSet presAssocID="{2D39BED2-ABC1-429F-ACDC-5ABB6C5243A6}" presName="sibTrans" presStyleCnt="0"/>
      <dgm:spPr/>
    </dgm:pt>
    <dgm:pt modelId="{827E1182-96A8-4B1A-9C48-7DC2DF2AB377}" type="pres">
      <dgm:prSet presAssocID="{2AF0CF57-A923-4ABE-BDB2-C3411482104C}" presName="compNode" presStyleCnt="0"/>
      <dgm:spPr/>
    </dgm:pt>
    <dgm:pt modelId="{B3A83442-001A-4FC1-B421-91F1B91DA512}" type="pres">
      <dgm:prSet presAssocID="{2AF0CF57-A923-4ABE-BDB2-C3411482104C}" presName="bgRect" presStyleLbl="bgShp" presStyleIdx="3" presStyleCnt="4"/>
      <dgm:spPr/>
    </dgm:pt>
    <dgm:pt modelId="{F1FE0511-94CA-4D3F-A0BE-2AFE7851AE2F}" type="pres">
      <dgm:prSet presAssocID="{2AF0CF57-A923-4ABE-BDB2-C3411482104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17BA4CA7-2988-4F93-9DAA-B86FCD38823E}" type="pres">
      <dgm:prSet presAssocID="{2AF0CF57-A923-4ABE-BDB2-C3411482104C}" presName="spaceRect" presStyleCnt="0"/>
      <dgm:spPr/>
    </dgm:pt>
    <dgm:pt modelId="{DFE5E204-8830-4EDC-BACE-462422BA433A}" type="pres">
      <dgm:prSet presAssocID="{2AF0CF57-A923-4ABE-BDB2-C3411482104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15F193F-AFE2-41AD-90D8-FB2C7A0C9E54}" type="presOf" srcId="{6F7EDFE7-0250-4954-A935-A8CA63A59A4A}" destId="{E732D4D0-0EE9-4C41-8827-9F202979330C}" srcOrd="0" destOrd="0" presId="urn:microsoft.com/office/officeart/2018/2/layout/IconVerticalSolidList"/>
    <dgm:cxn modelId="{4B9CA864-50EA-43CB-A8B3-8CDF5185E7F7}" type="presOf" srcId="{1E0BBC1A-D353-46C9-9345-BF14CDE167DE}" destId="{DE35DC5E-D57E-4A77-B873-8F26824938F4}" srcOrd="0" destOrd="0" presId="urn:microsoft.com/office/officeart/2018/2/layout/IconVerticalSolidList"/>
    <dgm:cxn modelId="{34C82965-5AC1-4AF9-9F69-274B1277EF90}" srcId="{C4B929BF-400B-42F4-8BAE-5A03C220AE83}" destId="{45E6A1F9-8213-47E1-8A39-54A1B80D0D40}" srcOrd="1" destOrd="0" parTransId="{A7006097-8B5D-4BC7-AB01-6D51142B0288}" sibTransId="{DCBAB637-5176-40DF-A3F0-32FCAA903C98}"/>
    <dgm:cxn modelId="{D70D0271-E390-4F9B-8592-89AB7C7AD018}" type="presOf" srcId="{45E6A1F9-8213-47E1-8A39-54A1B80D0D40}" destId="{8E636E7E-74AE-432C-9C1B-68A09B620405}" srcOrd="0" destOrd="0" presId="urn:microsoft.com/office/officeart/2018/2/layout/IconVerticalSolidList"/>
    <dgm:cxn modelId="{8CB2FF84-7E49-4B8E-8EFB-EC958A891C1A}" type="presOf" srcId="{C4B929BF-400B-42F4-8BAE-5A03C220AE83}" destId="{98FDEB6E-99BF-41C8-9230-68F50927FD0C}" srcOrd="0" destOrd="0" presId="urn:microsoft.com/office/officeart/2018/2/layout/IconVerticalSolidList"/>
    <dgm:cxn modelId="{B77BB494-225A-4686-8E5F-59E0946BD34B}" srcId="{C4B929BF-400B-42F4-8BAE-5A03C220AE83}" destId="{2AF0CF57-A923-4ABE-BDB2-C3411482104C}" srcOrd="3" destOrd="0" parTransId="{24BD81CB-0B02-43BB-A580-5CE2A2B01297}" sibTransId="{913A9179-DE9C-47F9-AF81-AA783CB9FFFB}"/>
    <dgm:cxn modelId="{F67532A1-7551-4E2A-B312-88AAC580BC12}" srcId="{C4B929BF-400B-42F4-8BAE-5A03C220AE83}" destId="{6F7EDFE7-0250-4954-A935-A8CA63A59A4A}" srcOrd="0" destOrd="0" parTransId="{753A0166-72F5-4E28-B10F-4777636DE8F4}" sibTransId="{F38533F2-E860-489D-AEBF-365F12BD6B19}"/>
    <dgm:cxn modelId="{DB9A6BA7-6A39-4C71-AB0F-7DEBDEBAF4B8}" type="presOf" srcId="{2AF0CF57-A923-4ABE-BDB2-C3411482104C}" destId="{DFE5E204-8830-4EDC-BACE-462422BA433A}" srcOrd="0" destOrd="0" presId="urn:microsoft.com/office/officeart/2018/2/layout/IconVerticalSolidList"/>
    <dgm:cxn modelId="{387714FA-76EA-4E66-B27A-7A94682373B3}" srcId="{C4B929BF-400B-42F4-8BAE-5A03C220AE83}" destId="{1E0BBC1A-D353-46C9-9345-BF14CDE167DE}" srcOrd="2" destOrd="0" parTransId="{6050E262-B006-4065-9A6D-6ADBF2FEC856}" sibTransId="{2D39BED2-ABC1-429F-ACDC-5ABB6C5243A6}"/>
    <dgm:cxn modelId="{6E7AAAAA-87CF-48E7-B2D1-D22338CA2D51}" type="presParOf" srcId="{98FDEB6E-99BF-41C8-9230-68F50927FD0C}" destId="{68E9963C-0FF0-472F-B77C-BFAD2DAFDC94}" srcOrd="0" destOrd="0" presId="urn:microsoft.com/office/officeart/2018/2/layout/IconVerticalSolidList"/>
    <dgm:cxn modelId="{8DC16401-F1B0-4ED9-9058-99675D63014F}" type="presParOf" srcId="{68E9963C-0FF0-472F-B77C-BFAD2DAFDC94}" destId="{8415D3A7-AFFC-4B95-952C-58FD0EAEFEA7}" srcOrd="0" destOrd="0" presId="urn:microsoft.com/office/officeart/2018/2/layout/IconVerticalSolidList"/>
    <dgm:cxn modelId="{13444592-5DAB-45D2-B1B7-21298BF9764A}" type="presParOf" srcId="{68E9963C-0FF0-472F-B77C-BFAD2DAFDC94}" destId="{0DB43DF1-333A-4C7B-AA3E-5728436398D9}" srcOrd="1" destOrd="0" presId="urn:microsoft.com/office/officeart/2018/2/layout/IconVerticalSolidList"/>
    <dgm:cxn modelId="{439CB586-9928-4B95-912E-DBC50EDC796A}" type="presParOf" srcId="{68E9963C-0FF0-472F-B77C-BFAD2DAFDC94}" destId="{35C11BDD-86C9-4069-86A8-0F4E4D4080BC}" srcOrd="2" destOrd="0" presId="urn:microsoft.com/office/officeart/2018/2/layout/IconVerticalSolidList"/>
    <dgm:cxn modelId="{85B21A1C-9D99-4589-A6E8-9B65E70F78DA}" type="presParOf" srcId="{68E9963C-0FF0-472F-B77C-BFAD2DAFDC94}" destId="{E732D4D0-0EE9-4C41-8827-9F202979330C}" srcOrd="3" destOrd="0" presId="urn:microsoft.com/office/officeart/2018/2/layout/IconVerticalSolidList"/>
    <dgm:cxn modelId="{C4E47E65-ED1B-419A-9C7F-83273256913F}" type="presParOf" srcId="{98FDEB6E-99BF-41C8-9230-68F50927FD0C}" destId="{8E2C0CD4-1018-496D-8ED3-4871303B3100}" srcOrd="1" destOrd="0" presId="urn:microsoft.com/office/officeart/2018/2/layout/IconVerticalSolidList"/>
    <dgm:cxn modelId="{AD53C811-2429-4798-B53B-CBFA7C06E75E}" type="presParOf" srcId="{98FDEB6E-99BF-41C8-9230-68F50927FD0C}" destId="{50F415BC-2E53-4836-8E80-327AFDC430C9}" srcOrd="2" destOrd="0" presId="urn:microsoft.com/office/officeart/2018/2/layout/IconVerticalSolidList"/>
    <dgm:cxn modelId="{E9E05096-2B6C-4476-8AFB-1E3A70A25655}" type="presParOf" srcId="{50F415BC-2E53-4836-8E80-327AFDC430C9}" destId="{393A73A6-EFCE-451D-B1FC-DD906228A55A}" srcOrd="0" destOrd="0" presId="urn:microsoft.com/office/officeart/2018/2/layout/IconVerticalSolidList"/>
    <dgm:cxn modelId="{B829A2A5-0DB4-4F83-B29A-7A89E1C09BDD}" type="presParOf" srcId="{50F415BC-2E53-4836-8E80-327AFDC430C9}" destId="{B3D60B2D-65D4-4978-B465-946D91CEB8A6}" srcOrd="1" destOrd="0" presId="urn:microsoft.com/office/officeart/2018/2/layout/IconVerticalSolidList"/>
    <dgm:cxn modelId="{744496AC-DC51-41BE-892D-7F4304C7DCE8}" type="presParOf" srcId="{50F415BC-2E53-4836-8E80-327AFDC430C9}" destId="{08F6E3A8-F0E6-4582-A981-B9E2B9B777B4}" srcOrd="2" destOrd="0" presId="urn:microsoft.com/office/officeart/2018/2/layout/IconVerticalSolidList"/>
    <dgm:cxn modelId="{06C34992-3335-4BA5-940F-6089FE87BE9C}" type="presParOf" srcId="{50F415BC-2E53-4836-8E80-327AFDC430C9}" destId="{8E636E7E-74AE-432C-9C1B-68A09B620405}" srcOrd="3" destOrd="0" presId="urn:microsoft.com/office/officeart/2018/2/layout/IconVerticalSolidList"/>
    <dgm:cxn modelId="{F2A49FA4-48F9-428E-8AC3-D638566E0B47}" type="presParOf" srcId="{98FDEB6E-99BF-41C8-9230-68F50927FD0C}" destId="{5686265D-65D9-4CB7-AA86-E55EAED7E267}" srcOrd="3" destOrd="0" presId="urn:microsoft.com/office/officeart/2018/2/layout/IconVerticalSolidList"/>
    <dgm:cxn modelId="{68A6C1B4-A6C7-439A-820F-E710CB7AF570}" type="presParOf" srcId="{98FDEB6E-99BF-41C8-9230-68F50927FD0C}" destId="{C4F36032-25BB-4B88-B361-7625F4D13CF4}" srcOrd="4" destOrd="0" presId="urn:microsoft.com/office/officeart/2018/2/layout/IconVerticalSolidList"/>
    <dgm:cxn modelId="{A4164C2A-5BB5-4506-B271-C4EC72B66AC9}" type="presParOf" srcId="{C4F36032-25BB-4B88-B361-7625F4D13CF4}" destId="{4CCA2F02-D699-40EC-8CEB-F5C23426DF64}" srcOrd="0" destOrd="0" presId="urn:microsoft.com/office/officeart/2018/2/layout/IconVerticalSolidList"/>
    <dgm:cxn modelId="{A0B94067-21E5-4ADC-993B-E79251A57C90}" type="presParOf" srcId="{C4F36032-25BB-4B88-B361-7625F4D13CF4}" destId="{BFD8BE31-ADAC-4A35-A831-3943E667FB60}" srcOrd="1" destOrd="0" presId="urn:microsoft.com/office/officeart/2018/2/layout/IconVerticalSolidList"/>
    <dgm:cxn modelId="{8B942475-E692-4648-9688-37B54750B728}" type="presParOf" srcId="{C4F36032-25BB-4B88-B361-7625F4D13CF4}" destId="{53DD1180-52C6-4C8A-B92B-20CDF9224B35}" srcOrd="2" destOrd="0" presId="urn:microsoft.com/office/officeart/2018/2/layout/IconVerticalSolidList"/>
    <dgm:cxn modelId="{A3A5606C-6899-4C0F-B267-BD9E7E6C8613}" type="presParOf" srcId="{C4F36032-25BB-4B88-B361-7625F4D13CF4}" destId="{DE35DC5E-D57E-4A77-B873-8F26824938F4}" srcOrd="3" destOrd="0" presId="urn:microsoft.com/office/officeart/2018/2/layout/IconVerticalSolidList"/>
    <dgm:cxn modelId="{9BFE748E-5BB1-45F9-BFDF-FFE39C71D854}" type="presParOf" srcId="{98FDEB6E-99BF-41C8-9230-68F50927FD0C}" destId="{3770FC41-5E94-43D4-A9ED-4D4529EF842C}" srcOrd="5" destOrd="0" presId="urn:microsoft.com/office/officeart/2018/2/layout/IconVerticalSolidList"/>
    <dgm:cxn modelId="{02CB9A30-2F36-4591-B352-EC49ACF0DB7B}" type="presParOf" srcId="{98FDEB6E-99BF-41C8-9230-68F50927FD0C}" destId="{827E1182-96A8-4B1A-9C48-7DC2DF2AB377}" srcOrd="6" destOrd="0" presId="urn:microsoft.com/office/officeart/2018/2/layout/IconVerticalSolidList"/>
    <dgm:cxn modelId="{17116290-5606-432E-A844-CFCFE2A81F05}" type="presParOf" srcId="{827E1182-96A8-4B1A-9C48-7DC2DF2AB377}" destId="{B3A83442-001A-4FC1-B421-91F1B91DA512}" srcOrd="0" destOrd="0" presId="urn:microsoft.com/office/officeart/2018/2/layout/IconVerticalSolidList"/>
    <dgm:cxn modelId="{6DB2D1E8-AB38-4F98-AE35-6DB4984549BD}" type="presParOf" srcId="{827E1182-96A8-4B1A-9C48-7DC2DF2AB377}" destId="{F1FE0511-94CA-4D3F-A0BE-2AFE7851AE2F}" srcOrd="1" destOrd="0" presId="urn:microsoft.com/office/officeart/2018/2/layout/IconVerticalSolidList"/>
    <dgm:cxn modelId="{B24E6E4D-8333-4116-B950-7E1A61E6883C}" type="presParOf" srcId="{827E1182-96A8-4B1A-9C48-7DC2DF2AB377}" destId="{17BA4CA7-2988-4F93-9DAA-B86FCD38823E}" srcOrd="2" destOrd="0" presId="urn:microsoft.com/office/officeart/2018/2/layout/IconVerticalSolidList"/>
    <dgm:cxn modelId="{077B2556-602F-4E9E-AE15-35E0D0FF12F5}" type="presParOf" srcId="{827E1182-96A8-4B1A-9C48-7DC2DF2AB377}" destId="{DFE5E204-8830-4EDC-BACE-462422BA43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15D3A7-AFFC-4B95-952C-58FD0EAEFEA7}">
      <dsp:nvSpPr>
        <dsp:cNvPr id="0" name=""/>
        <dsp:cNvSpPr/>
      </dsp:nvSpPr>
      <dsp:spPr>
        <a:xfrm>
          <a:off x="0" y="1719"/>
          <a:ext cx="10515600" cy="8713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B43DF1-333A-4C7B-AA3E-5728436398D9}">
      <dsp:nvSpPr>
        <dsp:cNvPr id="0" name=""/>
        <dsp:cNvSpPr/>
      </dsp:nvSpPr>
      <dsp:spPr>
        <a:xfrm>
          <a:off x="263575" y="197767"/>
          <a:ext cx="479228" cy="4792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32D4D0-0EE9-4C41-8827-9F202979330C}">
      <dsp:nvSpPr>
        <dsp:cNvPr id="0" name=""/>
        <dsp:cNvSpPr/>
      </dsp:nvSpPr>
      <dsp:spPr>
        <a:xfrm>
          <a:off x="1006380" y="1719"/>
          <a:ext cx="9509219" cy="871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15" tIns="92215" rIns="92215" bIns="9221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1. Portefeuille Virtuel (Solde) : Les transactions ne se font pas par carte bancaire. Les utilisateurs consomment un solde virtuel pour leurs achats et abonnements.</a:t>
          </a:r>
          <a:endParaRPr lang="en-US" sz="2100" kern="1200" dirty="0"/>
        </a:p>
      </dsp:txBody>
      <dsp:txXfrm>
        <a:off x="1006380" y="1719"/>
        <a:ext cx="9509219" cy="871324"/>
      </dsp:txXfrm>
    </dsp:sp>
    <dsp:sp modelId="{393A73A6-EFCE-451D-B1FC-DD906228A55A}">
      <dsp:nvSpPr>
        <dsp:cNvPr id="0" name=""/>
        <dsp:cNvSpPr/>
      </dsp:nvSpPr>
      <dsp:spPr>
        <a:xfrm>
          <a:off x="0" y="1090875"/>
          <a:ext cx="10515600" cy="8713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D60B2D-65D4-4978-B465-946D91CEB8A6}">
      <dsp:nvSpPr>
        <dsp:cNvPr id="0" name=""/>
        <dsp:cNvSpPr/>
      </dsp:nvSpPr>
      <dsp:spPr>
        <a:xfrm>
          <a:off x="263575" y="1286923"/>
          <a:ext cx="479228" cy="4792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36E7E-74AE-432C-9C1B-68A09B620405}">
      <dsp:nvSpPr>
        <dsp:cNvPr id="0" name=""/>
        <dsp:cNvSpPr/>
      </dsp:nvSpPr>
      <dsp:spPr>
        <a:xfrm>
          <a:off x="1006380" y="1090875"/>
          <a:ext cx="9509219" cy="871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15" tIns="92215" rIns="92215" bIns="9221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2. Remises Dynamiques : Les prix s'adaptent automatiquement à la baisse si l'utilisateur possède un abonnement VIP ou PRO actif.</a:t>
          </a:r>
          <a:endParaRPr lang="en-US" sz="2100" kern="1200"/>
        </a:p>
      </dsp:txBody>
      <dsp:txXfrm>
        <a:off x="1006380" y="1090875"/>
        <a:ext cx="9509219" cy="871324"/>
      </dsp:txXfrm>
    </dsp:sp>
    <dsp:sp modelId="{4CCA2F02-D699-40EC-8CEB-F5C23426DF64}">
      <dsp:nvSpPr>
        <dsp:cNvPr id="0" name=""/>
        <dsp:cNvSpPr/>
      </dsp:nvSpPr>
      <dsp:spPr>
        <a:xfrm>
          <a:off x="0" y="2180031"/>
          <a:ext cx="10515600" cy="8713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D8BE31-ADAC-4A35-A831-3943E667FB60}">
      <dsp:nvSpPr>
        <dsp:cNvPr id="0" name=""/>
        <dsp:cNvSpPr/>
      </dsp:nvSpPr>
      <dsp:spPr>
        <a:xfrm>
          <a:off x="263575" y="2376079"/>
          <a:ext cx="479228" cy="4792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5DC5E-D57E-4A77-B873-8F26824938F4}">
      <dsp:nvSpPr>
        <dsp:cNvPr id="0" name=""/>
        <dsp:cNvSpPr/>
      </dsp:nvSpPr>
      <dsp:spPr>
        <a:xfrm>
          <a:off x="1006380" y="2180031"/>
          <a:ext cx="9509219" cy="871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15" tIns="92215" rIns="92215" bIns="9221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3. Gestion de Stock Temps Réel : Chaque commande validée décrémente instantanément le stock disponible pour éviter le surbooking.</a:t>
          </a:r>
          <a:endParaRPr lang="en-US" sz="2100" kern="1200"/>
        </a:p>
      </dsp:txBody>
      <dsp:txXfrm>
        <a:off x="1006380" y="2180031"/>
        <a:ext cx="9509219" cy="871324"/>
      </dsp:txXfrm>
    </dsp:sp>
    <dsp:sp modelId="{B3A83442-001A-4FC1-B421-91F1B91DA512}">
      <dsp:nvSpPr>
        <dsp:cNvPr id="0" name=""/>
        <dsp:cNvSpPr/>
      </dsp:nvSpPr>
      <dsp:spPr>
        <a:xfrm>
          <a:off x="0" y="3269187"/>
          <a:ext cx="10515600" cy="8713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FE0511-94CA-4D3F-A0BE-2AFE7851AE2F}">
      <dsp:nvSpPr>
        <dsp:cNvPr id="0" name=""/>
        <dsp:cNvSpPr/>
      </dsp:nvSpPr>
      <dsp:spPr>
        <a:xfrm>
          <a:off x="263575" y="3465235"/>
          <a:ext cx="479228" cy="4792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5E204-8830-4EDC-BACE-462422BA433A}">
      <dsp:nvSpPr>
        <dsp:cNvPr id="0" name=""/>
        <dsp:cNvSpPr/>
      </dsp:nvSpPr>
      <dsp:spPr>
        <a:xfrm>
          <a:off x="1006380" y="3269187"/>
          <a:ext cx="9509219" cy="871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15" tIns="92215" rIns="92215" bIns="9221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4. Fidélisation (Gamification) : L'intégration de la 'Roulette du Jour' génère du trafic quotidien en offrant du solde virtuel pour inciter à l'achat.</a:t>
          </a:r>
          <a:endParaRPr lang="en-US" sz="2100" kern="1200"/>
        </a:p>
      </dsp:txBody>
      <dsp:txXfrm>
        <a:off x="1006380" y="3269187"/>
        <a:ext cx="9509219" cy="871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9F0B6-8FDF-431C-4A73-8F988BBE4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1318FC-B109-BA9A-C6AE-D98BA3909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DDA36-8153-A430-DF1E-837502941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C1A2-8AC5-44CC-A64B-08CE84B99328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B2734-FB60-05E0-BE53-E9255092F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174D0-13A6-9D85-FE47-644AAC80A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D1B56-3FA5-4D3F-85FE-3B4FD47A23F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687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C9E6-51BD-5103-CDEA-FC7E4D3CD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DDF86-5B37-CCF6-9C02-41477F402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BDCF7-7970-6205-E3B5-035BD177E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C1A2-8AC5-44CC-A64B-08CE84B99328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2A2C1-7197-42A8-52D5-44FC1DD41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D4956-C170-DA1D-41E8-CCEDC7B4B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D1B56-3FA5-4D3F-85FE-3B4FD47A23F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8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F997-7D8E-B67C-F193-3980DD578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8A42A-97BA-976A-639A-C72E39FD7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2DD33-6AB5-4DA5-2F60-CA2849251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C1A2-8AC5-44CC-A64B-08CE84B99328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B382D-96BA-FC98-3287-58987107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FFE09-6D42-ADA7-EFBD-C8571C40C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D1B56-3FA5-4D3F-85FE-3B4FD47A23F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65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8EB8-F344-D147-1D63-892EEA7FA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6C196-C520-1551-221A-3FFE1342B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F52CC-5D34-A2E6-25CA-8793E1AF1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EF97E-7BA6-8B9E-8E38-7AD37E7A0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C1A2-8AC5-44CC-A64B-08CE84B99328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CDD15-E7C3-AA4C-F90F-1A2CC6459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85F82-57BE-7FE2-B729-314F7783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D1B56-3FA5-4D3F-85FE-3B4FD47A23F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425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3FA6F-A760-8455-04B1-8A54A656F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E732D-3F43-85CC-5AC4-F2F9DCBFC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F1F74-78BD-B8C9-BC3F-334C05C0B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89CE88-5B33-52B5-183D-FCD4909E0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87ADED-7656-FC3D-E981-920A0C4678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5C3276-62F9-3CCC-FC16-C0E3FDBF6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C1A2-8AC5-44CC-A64B-08CE84B99328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23BE07-07FF-9C0E-1E22-65DD93A98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A8FC9-217C-1CB7-F637-00E9C0CB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D1B56-3FA5-4D3F-85FE-3B4FD47A23F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215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CB27B-DABF-2DA3-46E2-B47A004C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CB88A7-3295-27B3-F590-8034DC20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C1A2-8AC5-44CC-A64B-08CE84B99328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F98550-89BF-06C2-29C8-5A6F057D9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1E1EC-08F9-FB9E-0415-3A599527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D1B56-3FA5-4D3F-85FE-3B4FD47A23F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318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DB8B57-85CA-DD41-6CEE-E6AFC30D7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C1A2-8AC5-44CC-A64B-08CE84B99328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5666C9-96EF-3AF0-AF0D-9BC7AC197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477B0-11BB-B246-05D6-2DB38585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D1B56-3FA5-4D3F-85FE-3B4FD47A23F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95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27EB-5E71-3526-4CFD-A54E1EED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47AE2-AAB6-003C-A4E6-3643DA40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70B31-0017-8EDE-1709-AAA726037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5E08C-14F5-81AB-0305-4BD7F52FC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C1A2-8AC5-44CC-A64B-08CE84B99328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C0E18-D756-E1BB-904D-7B2F7B23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613A1-47DE-4616-4115-7408E551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D1B56-3FA5-4D3F-85FE-3B4FD47A23F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370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EEEA0-F1F1-BD48-7A2A-66041BCD5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144296-7C1B-E9E3-7897-87E0EE1287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7CBDA-796D-1E79-B0CE-DAFCACF06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CF50C-4434-C884-54CA-E2C18535C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C1A2-8AC5-44CC-A64B-08CE84B99328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29ADC-A5ED-475E-3C5E-DAAF65519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08C49-C1E6-6AB1-32EF-3D2B57F3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D1B56-3FA5-4D3F-85FE-3B4FD47A23F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17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B765-629D-939B-368B-8B5B5B61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FE25D-B5F9-81F4-85BF-79F0C7A79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FBD0C-7F5D-D452-3569-B72A982AC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C1A2-8AC5-44CC-A64B-08CE84B99328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CDA11-C9F2-514F-EDFC-419AC28CE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EA8D5-8979-8636-5831-CEA24CD2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D1B56-3FA5-4D3F-85FE-3B4FD47A23F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739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86319A-59E8-50A0-B3C6-C36586C485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74AC1C-18C2-EC6B-5DA6-76F76F9F7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E2D47-1CB3-4C96-9D09-6A991687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C1A2-8AC5-44CC-A64B-08CE84B99328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6B6ED-5A80-03DF-5E81-C93544CAA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885B5-CB09-B167-5E46-8C79DD248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D1B56-3FA5-4D3F-85FE-3B4FD47A23F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450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BB188-E493-9A21-A0E2-C5FE366C2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515F4-904E-A6BC-4B4E-D13A7BFD2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3D76C-0C03-06D2-DADB-A62C2BFD8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C1A2-8AC5-44CC-A64B-08CE84B99328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D01FF-1A3E-5CEE-ED19-55D4138A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69098-2513-E5D8-19B3-776020F3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D1B56-3FA5-4D3F-85FE-3B4FD47A23F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51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631CB6-A85E-5382-574B-448F6AC50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4210A-55CF-DE84-2384-1385426F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37FCC-32CC-561D-B42A-1972FF37D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C1C1A2-8AC5-44CC-A64B-08CE84B99328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199F1-4DD9-A38E-8AD0-925AD03EC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AD028-180D-5FA8-B8D3-B6B73BB92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D1B56-3FA5-4D3F-85FE-3B4FD47A23F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674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73405-A0A6-8D28-2637-3F2B33190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200" kern="1200" dirty="0">
                <a:latin typeface="+mj-lt"/>
                <a:ea typeface="+mj-ea"/>
                <a:cs typeface="+mj-cs"/>
              </a:rPr>
              <a:t>AO 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72A44-A6FF-C008-F078-3B320F580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b="1" u="sng" dirty="0" err="1"/>
              <a:t>Présentation</a:t>
            </a:r>
            <a:r>
              <a:rPr lang="en-US" b="1" u="sng" dirty="0"/>
              <a:t> fait par: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Azer Ben Zineb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Omar Said</a:t>
            </a:r>
          </a:p>
          <a:p>
            <a:pPr algn="l"/>
            <a:r>
              <a:rPr lang="en-US" dirty="0"/>
              <a:t>PISI2</a:t>
            </a:r>
          </a:p>
        </p:txBody>
      </p:sp>
      <p:pic>
        <p:nvPicPr>
          <p:cNvPr id="21" name="Graphic 20" descr="Shopping cart">
            <a:extLst>
              <a:ext uri="{FF2B5EF4-FFF2-40B4-BE49-F238E27FC236}">
                <a16:creationId xmlns:a16="http://schemas.microsoft.com/office/drawing/2014/main" id="{F55CCC4F-C26F-9319-1C12-2229093029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23" name="Graphic 22" descr="Shopping cart">
            <a:extLst>
              <a:ext uri="{FF2B5EF4-FFF2-40B4-BE49-F238E27FC236}">
                <a16:creationId xmlns:a16="http://schemas.microsoft.com/office/drawing/2014/main" id="{29553CD6-DEAB-4780-8F67-24EAD1EDD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048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9B60E-15CD-2A52-3953-52A60D251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Configuration et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Initialisation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433A7-FA7B-B99C-86CE-EA24AC48D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350" y="1590740"/>
            <a:ext cx="11273300" cy="526725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1. </a:t>
            </a:r>
            <a:r>
              <a:rPr lang="en-US" sz="2400" dirty="0" err="1"/>
              <a:t>db.php</a:t>
            </a:r>
            <a:r>
              <a:rPr lang="en-US" sz="2400" dirty="0"/>
              <a:t> : </a:t>
            </a:r>
            <a:r>
              <a:rPr lang="en-US" sz="2400" dirty="0" err="1"/>
              <a:t>Gère</a:t>
            </a:r>
            <a:r>
              <a:rPr lang="en-US" sz="2400" dirty="0"/>
              <a:t> les </a:t>
            </a:r>
            <a:r>
              <a:rPr lang="en-US" sz="2400" dirty="0" err="1"/>
              <a:t>connexions</a:t>
            </a:r>
            <a:r>
              <a:rPr lang="en-US" sz="2400" dirty="0"/>
              <a:t> à la base de données via PDO(PHP Data Objects).</a:t>
            </a:r>
          </a:p>
          <a:p>
            <a:r>
              <a:rPr lang="en-US" sz="2400" dirty="0"/>
              <a:t>2. </a:t>
            </a:r>
            <a:r>
              <a:rPr lang="en-US" sz="2400" dirty="0" err="1"/>
              <a:t>lang.php</a:t>
            </a:r>
            <a:r>
              <a:rPr lang="en-US" sz="2400" dirty="0"/>
              <a:t> : </a:t>
            </a:r>
            <a:r>
              <a:rPr lang="en-US" sz="2400" dirty="0" err="1"/>
              <a:t>Gère</a:t>
            </a:r>
            <a:r>
              <a:rPr lang="en-US" sz="2400" dirty="0"/>
              <a:t> </a:t>
            </a:r>
            <a:r>
              <a:rPr lang="en-US" sz="2400" dirty="0" err="1"/>
              <a:t>l'internationalisation</a:t>
            </a:r>
            <a:r>
              <a:rPr lang="en-US" sz="2400" dirty="0"/>
              <a:t> (i18n).</a:t>
            </a:r>
          </a:p>
          <a:p>
            <a:r>
              <a:rPr lang="en-US" sz="2400" dirty="0"/>
              <a:t>   - </a:t>
            </a:r>
            <a:r>
              <a:rPr lang="en-US" sz="2400" dirty="0" err="1"/>
              <a:t>Fonction</a:t>
            </a:r>
            <a:r>
              <a:rPr lang="en-US" sz="2400" dirty="0"/>
              <a:t> __t($key) : </a:t>
            </a:r>
            <a:r>
              <a:rPr lang="en-US" sz="2400" dirty="0" err="1"/>
              <a:t>Traduit</a:t>
            </a:r>
            <a:r>
              <a:rPr lang="en-US" sz="2400" dirty="0"/>
              <a:t> </a:t>
            </a:r>
            <a:r>
              <a:rPr lang="en-US" sz="2400" dirty="0" err="1"/>
              <a:t>une</a:t>
            </a:r>
            <a:r>
              <a:rPr lang="en-US" sz="2400" dirty="0"/>
              <a:t> </a:t>
            </a:r>
            <a:r>
              <a:rPr lang="en-US" sz="2400" dirty="0" err="1"/>
              <a:t>clé</a:t>
            </a:r>
            <a:r>
              <a:rPr lang="en-US" sz="2400" dirty="0"/>
              <a:t> de </a:t>
            </a:r>
            <a:r>
              <a:rPr lang="en-US" sz="2400" dirty="0" err="1"/>
              <a:t>texte</a:t>
            </a:r>
            <a:r>
              <a:rPr lang="en-US" sz="2400" dirty="0"/>
              <a:t> dans la langue active (Français/Anglais) de manière </a:t>
            </a:r>
            <a:r>
              <a:rPr lang="en-US" sz="2400" dirty="0" err="1"/>
              <a:t>dynamique</a:t>
            </a:r>
            <a:r>
              <a:rPr lang="en-US" sz="2400" dirty="0"/>
              <a:t>.</a:t>
            </a:r>
          </a:p>
          <a:p>
            <a:r>
              <a:rPr lang="en-US" sz="2400" dirty="0"/>
              <a:t>3. </a:t>
            </a:r>
            <a:r>
              <a:rPr lang="en-US" sz="2400" dirty="0" err="1"/>
              <a:t>index.php</a:t>
            </a:r>
            <a:r>
              <a:rPr lang="en-US" sz="2400" dirty="0"/>
              <a:t> (Racine) : Point </a:t>
            </a:r>
            <a:r>
              <a:rPr lang="en-US" sz="2400" dirty="0" err="1"/>
              <a:t>d'entrée</a:t>
            </a:r>
            <a:r>
              <a:rPr lang="en-US" sz="2400" dirty="0"/>
              <a:t> de </a:t>
            </a:r>
            <a:r>
              <a:rPr lang="en-US" sz="2400" dirty="0" err="1"/>
              <a:t>l'application</a:t>
            </a:r>
            <a:r>
              <a:rPr lang="en-US" sz="2400" dirty="0"/>
              <a:t>. </a:t>
            </a:r>
            <a:r>
              <a:rPr lang="en-US" sz="2400" dirty="0" err="1"/>
              <a:t>Vérifie</a:t>
            </a:r>
            <a:r>
              <a:rPr lang="en-US" sz="2400" dirty="0"/>
              <a:t> </a:t>
            </a:r>
            <a:r>
              <a:rPr lang="en-US" sz="2400" dirty="0" err="1"/>
              <a:t>l'état</a:t>
            </a:r>
            <a:r>
              <a:rPr lang="en-US" sz="2400" dirty="0"/>
              <a:t> de la session et </a:t>
            </a:r>
            <a:r>
              <a:rPr lang="en-US" sz="2400" dirty="0" err="1"/>
              <a:t>redirige</a:t>
            </a:r>
            <a:r>
              <a:rPr lang="en-US" sz="2400" dirty="0"/>
              <a:t> vers la </a:t>
            </a:r>
            <a:r>
              <a:rPr lang="en-US" sz="2400" dirty="0" err="1"/>
              <a:t>connexion</a:t>
            </a:r>
            <a:r>
              <a:rPr lang="en-US" sz="2400" dirty="0"/>
              <a:t> </a:t>
            </a:r>
            <a:r>
              <a:rPr lang="en-US" sz="2400" dirty="0" err="1"/>
              <a:t>ou</a:t>
            </a:r>
            <a:r>
              <a:rPr lang="en-US" sz="2400" dirty="0"/>
              <a:t> </a:t>
            </a:r>
            <a:r>
              <a:rPr lang="en-US" sz="2400" dirty="0" err="1"/>
              <a:t>l'accueil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5935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D9EB1-8800-450D-56CD-51C0A9D93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F01CD7-E563-881E-F26F-AB2641165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811BD3-908A-5502-1045-39A9F8E86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E11568-705C-827F-3A3B-52E2882FD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60631A-75F6-841B-3E8A-B1AEABC8D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D32DF8-42DA-D16C-0F20-9FD3B6C10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C38726-98FA-A5F8-5EF1-69B093AD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Inclusions &amp; Logique Utilitaire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D655F-738C-A00C-9CDC-E68CFE608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Dossier : includes/</a:t>
            </a:r>
          </a:p>
          <a:p>
            <a:r>
              <a:rPr lang="en-US" sz="2000" dirty="0"/>
              <a:t>1. </a:t>
            </a:r>
            <a:r>
              <a:rPr lang="en-US" sz="2000" dirty="0" err="1"/>
              <a:t>header.php</a:t>
            </a:r>
            <a:r>
              <a:rPr lang="en-US" sz="2000" dirty="0"/>
              <a:t> &amp; </a:t>
            </a:r>
            <a:r>
              <a:rPr lang="en-US" sz="2000" dirty="0" err="1"/>
              <a:t>footer.php</a:t>
            </a:r>
            <a:r>
              <a:rPr lang="en-US" sz="2000" dirty="0"/>
              <a:t> : </a:t>
            </a:r>
            <a:r>
              <a:rPr lang="en-US" sz="2000" dirty="0" err="1"/>
              <a:t>Composants</a:t>
            </a:r>
            <a:r>
              <a:rPr lang="en-US" sz="2000" dirty="0"/>
              <a:t> de mise </a:t>
            </a:r>
            <a:r>
              <a:rPr lang="en-US" sz="2000" dirty="0" err="1"/>
              <a:t>en</a:t>
            </a:r>
            <a:r>
              <a:rPr lang="en-US" sz="2000" dirty="0"/>
              <a:t> page </a:t>
            </a:r>
            <a:r>
              <a:rPr lang="en-US" sz="2000" dirty="0" err="1"/>
              <a:t>globaux</a:t>
            </a:r>
            <a:r>
              <a:rPr lang="en-US" sz="2000" dirty="0"/>
              <a:t>. Le header </a:t>
            </a:r>
            <a:r>
              <a:rPr lang="en-US" sz="2000" dirty="0" err="1"/>
              <a:t>calcule</a:t>
            </a:r>
            <a:r>
              <a:rPr lang="en-US" sz="2000" dirty="0"/>
              <a:t> </a:t>
            </a:r>
            <a:r>
              <a:rPr lang="en-US" sz="2000" dirty="0" err="1"/>
              <a:t>dynamiquement</a:t>
            </a:r>
            <a:r>
              <a:rPr lang="en-US" sz="2000" dirty="0"/>
              <a:t> le </a:t>
            </a:r>
            <a:r>
              <a:rPr lang="en-US" sz="2000" dirty="0" err="1"/>
              <a:t>nombre</a:t>
            </a:r>
            <a:r>
              <a:rPr lang="en-US" sz="2000" dirty="0"/>
              <a:t> </a:t>
            </a:r>
            <a:r>
              <a:rPr lang="en-US" sz="2000" dirty="0" err="1"/>
              <a:t>d'articles</a:t>
            </a:r>
            <a:r>
              <a:rPr lang="en-US" sz="2000" dirty="0"/>
              <a:t> dans le panier.</a:t>
            </a:r>
          </a:p>
          <a:p>
            <a:r>
              <a:rPr lang="en-US" sz="2000" dirty="0"/>
              <a:t>2. </a:t>
            </a:r>
            <a:r>
              <a:rPr lang="en-US" sz="2000" dirty="0" err="1"/>
              <a:t>discounts.php</a:t>
            </a:r>
            <a:r>
              <a:rPr lang="en-US" sz="2000" dirty="0"/>
              <a:t> : </a:t>
            </a:r>
            <a:r>
              <a:rPr lang="en-US" sz="2000" dirty="0" err="1"/>
              <a:t>Contient</a:t>
            </a:r>
            <a:r>
              <a:rPr lang="en-US" sz="2000" dirty="0"/>
              <a:t> la </a:t>
            </a:r>
            <a:r>
              <a:rPr lang="en-US" sz="2000" dirty="0" err="1"/>
              <a:t>logique</a:t>
            </a:r>
            <a:r>
              <a:rPr lang="en-US" sz="2000" dirty="0"/>
              <a:t> métier pour les prix et les images.</a:t>
            </a:r>
          </a:p>
          <a:p>
            <a:r>
              <a:rPr lang="en-US" sz="2000" dirty="0"/>
              <a:t>   - </a:t>
            </a:r>
            <a:r>
              <a:rPr lang="en-US" sz="2000" dirty="0" err="1"/>
              <a:t>get_active_subscription</a:t>
            </a:r>
            <a:r>
              <a:rPr lang="en-US" sz="2000" dirty="0"/>
              <a:t>($</a:t>
            </a:r>
            <a:r>
              <a:rPr lang="en-US" sz="2000" dirty="0" err="1"/>
              <a:t>pdo</a:t>
            </a:r>
            <a:r>
              <a:rPr lang="en-US" sz="2000" dirty="0"/>
              <a:t>, $</a:t>
            </a:r>
            <a:r>
              <a:rPr lang="en-US" sz="2000" dirty="0" err="1"/>
              <a:t>userId</a:t>
            </a:r>
            <a:r>
              <a:rPr lang="en-US" sz="2000" dirty="0"/>
              <a:t>) : </a:t>
            </a:r>
            <a:r>
              <a:rPr lang="en-US" sz="2000" dirty="0" err="1"/>
              <a:t>Récupère</a:t>
            </a:r>
            <a:r>
              <a:rPr lang="en-US" sz="2000" dirty="0"/>
              <a:t> le </a:t>
            </a:r>
            <a:r>
              <a:rPr lang="en-US" sz="2000" dirty="0" err="1"/>
              <a:t>niveau</a:t>
            </a:r>
            <a:r>
              <a:rPr lang="en-US" sz="2000" dirty="0"/>
              <a:t> </a:t>
            </a:r>
            <a:r>
              <a:rPr lang="en-US" sz="2000" dirty="0" err="1"/>
              <a:t>d'abonnement</a:t>
            </a:r>
            <a:r>
              <a:rPr lang="en-US" sz="2000" dirty="0"/>
              <a:t> </a:t>
            </a:r>
            <a:r>
              <a:rPr lang="en-US" sz="2000" dirty="0" err="1"/>
              <a:t>actif</a:t>
            </a:r>
            <a:r>
              <a:rPr lang="en-US" sz="2000" dirty="0"/>
              <a:t> d'un </a:t>
            </a:r>
            <a:r>
              <a:rPr lang="en-US" sz="2000" dirty="0" err="1"/>
              <a:t>utilisateur</a:t>
            </a:r>
            <a:r>
              <a:rPr lang="en-US" sz="2000" dirty="0"/>
              <a:t>.</a:t>
            </a:r>
          </a:p>
          <a:p>
            <a:r>
              <a:rPr lang="en-US" sz="2000" dirty="0"/>
              <a:t>   - </a:t>
            </a:r>
            <a:r>
              <a:rPr lang="en-US" sz="2000" dirty="0" err="1"/>
              <a:t>with_discounted_price</a:t>
            </a:r>
            <a:r>
              <a:rPr lang="en-US" sz="2000" dirty="0"/>
              <a:t>($product, $discount) : Applique les </a:t>
            </a:r>
            <a:r>
              <a:rPr lang="en-US" sz="2000" dirty="0" err="1"/>
              <a:t>réductions</a:t>
            </a:r>
            <a:r>
              <a:rPr lang="en-US" sz="2000" dirty="0"/>
              <a:t> </a:t>
            </a:r>
            <a:r>
              <a:rPr lang="en-US" sz="2000" dirty="0" err="1"/>
              <a:t>globales</a:t>
            </a:r>
            <a:r>
              <a:rPr lang="en-US" sz="2000" dirty="0"/>
              <a:t>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d'abonnement</a:t>
            </a:r>
            <a:r>
              <a:rPr lang="en-US" sz="2000" dirty="0"/>
              <a:t>.</a:t>
            </a:r>
          </a:p>
          <a:p>
            <a:r>
              <a:rPr lang="en-US" sz="2000" dirty="0"/>
              <a:t>   - </a:t>
            </a:r>
            <a:r>
              <a:rPr lang="en-US" sz="2000" dirty="0" err="1"/>
              <a:t>get_product_image</a:t>
            </a:r>
            <a:r>
              <a:rPr lang="en-US" sz="2000" dirty="0"/>
              <a:t>($ref, $photo) : </a:t>
            </a:r>
            <a:r>
              <a:rPr lang="en-US" sz="2000" dirty="0" err="1"/>
              <a:t>Résout</a:t>
            </a:r>
            <a:r>
              <a:rPr lang="en-US" sz="2000" dirty="0"/>
              <a:t> le chemin correct pour les miniatures des </a:t>
            </a:r>
            <a:r>
              <a:rPr lang="en-US" sz="2000" dirty="0" err="1"/>
              <a:t>produits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6626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1F9994-E559-F244-AB1E-E96A3B7CF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Système d'Authentification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9C0FF-98AD-B46E-C306-678EDBDD2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Dossier : auth/</a:t>
            </a:r>
          </a:p>
          <a:p>
            <a:r>
              <a:rPr lang="en-US" sz="2000"/>
              <a:t>1. login.php : Gère la connexion et l'inscription.</a:t>
            </a:r>
          </a:p>
          <a:p>
            <a:r>
              <a:rPr lang="en-US" sz="2000"/>
              <a:t>   - Logique : Valide les emails, chiffre les mots de passe (BCrypt), et définit les variables de session sécurisées selon le rôle (Admin/Client).</a:t>
            </a:r>
          </a:p>
          <a:p>
            <a:r>
              <a:rPr lang="en-US" sz="2000"/>
              <a:t>   - Fonction showTab(tab) : Fonction JS pour basculer entre les vues Connexion et Inscription.</a:t>
            </a:r>
          </a:p>
          <a:p>
            <a:r>
              <a:rPr lang="en-US" sz="2000"/>
              <a:t>2. logout.php : Détruit les sessions utilisateur et redirige en toute sécurité vers la page de connexion.</a:t>
            </a:r>
          </a:p>
        </p:txBody>
      </p:sp>
    </p:spTree>
    <p:extLst>
      <p:ext uri="{BB962C8B-B14F-4D97-AF65-F5344CB8AC3E}">
        <p14:creationId xmlns:p14="http://schemas.microsoft.com/office/powerpoint/2010/main" val="2250739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DC4B4-13DD-CA6B-47BD-DA70886AD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Ressources, Styles et Composants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D3F5D-5ECE-9192-BDE6-378121718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Dossier : assets/</a:t>
            </a:r>
          </a:p>
          <a:p>
            <a:r>
              <a:rPr lang="en-US" sz="2000"/>
              <a:t>1. style.css : Gère le Design System. Utilise des variables CSS et color-mix() pour un thème dynamique.</a:t>
            </a:r>
          </a:p>
          <a:p>
            <a:r>
              <a:rPr lang="en-US" sz="2000"/>
              <a:t>2. theme.js : Gère le changement de thème en temps réel.</a:t>
            </a:r>
          </a:p>
          <a:p>
            <a:r>
              <a:rPr lang="en-US" sz="2000"/>
              <a:t>   - Fonction cycleTheme() : Alterne entre les différents thèmes et sauvegarde les préférences.</a:t>
            </a:r>
          </a:p>
          <a:p>
            <a:r>
              <a:rPr lang="en-US" sz="2000"/>
              <a:t>3. App.jsx : Composant React autonome.</a:t>
            </a:r>
          </a:p>
          <a:p>
            <a:r>
              <a:rPr lang="en-US" sz="2000"/>
              <a:t>   - Fonction RecoBar() : Affiche une barre déroulante de 'Produits Recommandés' dynamiquement.</a:t>
            </a:r>
          </a:p>
        </p:txBody>
      </p:sp>
    </p:spTree>
    <p:extLst>
      <p:ext uri="{BB962C8B-B14F-4D97-AF65-F5344CB8AC3E}">
        <p14:creationId xmlns:p14="http://schemas.microsoft.com/office/powerpoint/2010/main" val="2263496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7F5C0-4342-AC03-033C-2493BA0C3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Interface Client : Achats &amp; Comparaisons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8BF5D-A989-6266-C355-09DB7F44E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Dossier : client/</a:t>
            </a:r>
          </a:p>
          <a:p>
            <a:r>
              <a:rPr lang="en-US" sz="2000"/>
              <a:t>1. index.php : Le catalogue principal. Gère l'affichage Grille/Liste et le filtrage par catégories.</a:t>
            </a:r>
          </a:p>
          <a:p>
            <a:r>
              <a:rPr lang="en-US" sz="2000"/>
              <a:t>   - Fonction setView(mode) : Fonction JS pour modifier l'affichage.</a:t>
            </a:r>
          </a:p>
          <a:p>
            <a:r>
              <a:rPr lang="en-US" sz="2000"/>
              <a:t>2. comparer.php : Outil de comparaison de produits côte à côte.</a:t>
            </a:r>
          </a:p>
          <a:p>
            <a:r>
              <a:rPr lang="en-US" sz="2000"/>
              <a:t>   - Logique : Compare dynamiquement les spécifications (RAM, Stockage, CPU) depuis la base de données.</a:t>
            </a:r>
          </a:p>
        </p:txBody>
      </p:sp>
    </p:spTree>
    <p:extLst>
      <p:ext uri="{BB962C8B-B14F-4D97-AF65-F5344CB8AC3E}">
        <p14:creationId xmlns:p14="http://schemas.microsoft.com/office/powerpoint/2010/main" val="2112979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85B5DD-4EE7-C175-F07C-16BE7B4C9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Panier &amp; Commandes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1A83E-5817-6376-86B4-26D30EC6E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Dossiers : client/ &amp; actions/</a:t>
            </a:r>
          </a:p>
          <a:p>
            <a:r>
              <a:rPr lang="en-US" sz="2000"/>
              <a:t>1. client/panier.php : Affiche le panier actuel, calcule le total et finalise l'achat.</a:t>
            </a:r>
          </a:p>
          <a:p>
            <a:r>
              <a:rPr lang="en-US" sz="2000"/>
              <a:t>2. actions/add_to_cart.php : API backend pour ajouter des articles au panier avec vérification des stocks.</a:t>
            </a:r>
          </a:p>
          <a:p>
            <a:r>
              <a:rPr lang="en-US" sz="2000"/>
              <a:t>3. actions/buy_now.php : Convertit instantanément un article en commande confirmée et déduit le solde.</a:t>
            </a:r>
          </a:p>
        </p:txBody>
      </p:sp>
    </p:spTree>
    <p:extLst>
      <p:ext uri="{BB962C8B-B14F-4D97-AF65-F5344CB8AC3E}">
        <p14:creationId xmlns:p14="http://schemas.microsoft.com/office/powerpoint/2010/main" val="1532805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E207E1-9F10-37D1-1FAA-E7C59E552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Engagement &amp; Abonnements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B2282-7511-64DE-46F8-F5B957682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1. roulette.php &amp; spin_roulette.php : Système de récompense quotidienne.</a:t>
            </a:r>
          </a:p>
          <a:p>
            <a:r>
              <a:rPr lang="en-US" sz="2000"/>
              <a:t>   - Logique : Limite à un essai par 24h. Utilise la randomisation pour attribuer du solde.</a:t>
            </a:r>
          </a:p>
          <a:p>
            <a:r>
              <a:rPr lang="en-US" sz="2000"/>
              <a:t>   - Fonction spinRoulette() : Animation JS pour faire tourner la roue.</a:t>
            </a:r>
          </a:p>
          <a:p>
            <a:r>
              <a:rPr lang="en-US" sz="2000"/>
              <a:t>2. abonnement.php &amp; subscribe.php : Niveaux Premium.</a:t>
            </a:r>
          </a:p>
          <a:p>
            <a:r>
              <a:rPr lang="en-US" sz="2000"/>
              <a:t>   - Logique : Déduit le prix du portefeuille, active les forfaits VIP/Pro et débloque les réductions.</a:t>
            </a:r>
          </a:p>
        </p:txBody>
      </p:sp>
    </p:spTree>
    <p:extLst>
      <p:ext uri="{BB962C8B-B14F-4D97-AF65-F5344CB8AC3E}">
        <p14:creationId xmlns:p14="http://schemas.microsoft.com/office/powerpoint/2010/main" val="1215283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BDB8F-D133-C4F7-E85E-40EC1495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Espace Admin : Opérations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6A9CC-1470-E0AB-5078-EC337073E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Dossier : admin/</a:t>
            </a:r>
          </a:p>
          <a:p>
            <a:r>
              <a:rPr lang="en-US" sz="2000"/>
              <a:t>1. dashboard.php : Affiche les métriques, les top ventes, et un graphique de revenus via Chart.js.</a:t>
            </a:r>
          </a:p>
          <a:p>
            <a:r>
              <a:rPr lang="en-US" sz="2000"/>
              <a:t>2. stock.php : Suivi visuel de l'inventaire. Signale les articles en rupture en Rouge.</a:t>
            </a:r>
          </a:p>
          <a:p>
            <a:r>
              <a:rPr lang="en-US" sz="2000"/>
              <a:t>3. comptes.php : Tableau de gestion des utilisateurs. Affiche les soldes clients et l'historique d'achat.</a:t>
            </a:r>
          </a:p>
        </p:txBody>
      </p:sp>
    </p:spTree>
    <p:extLst>
      <p:ext uri="{BB962C8B-B14F-4D97-AF65-F5344CB8AC3E}">
        <p14:creationId xmlns:p14="http://schemas.microsoft.com/office/powerpoint/2010/main" val="2035271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99725E-E956-CFB8-47C1-C963F79B3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Espace Admin : Gestion des Produits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D9D0E-24F5-F44E-5E5C-9A61A79DA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Dossiers : admin/ &amp; actions/</a:t>
            </a:r>
          </a:p>
          <a:p>
            <a:r>
              <a:rPr lang="en-US" sz="2000"/>
              <a:t>1. admin/produits.php &amp; categories.php : Formulaires pour créer et catégoriser le stock.</a:t>
            </a:r>
          </a:p>
          <a:p>
            <a:r>
              <a:rPr lang="en-US" sz="2000"/>
              <a:t>2. actions/add_product.php &amp; edit_product.php : Processeurs backend.</a:t>
            </a:r>
          </a:p>
          <a:p>
            <a:r>
              <a:rPr lang="en-US" sz="2000"/>
              <a:t>   - Logique : Gère le téléchargement d'images, sécurise les entrées HTML, et exécute les requêtes SQL.</a:t>
            </a:r>
          </a:p>
          <a:p>
            <a:r>
              <a:rPr lang="en-US" sz="2000"/>
              <a:t>3. actions/delete_product.php : Supprime les produits de la base de données en toute sécurité.</a:t>
            </a:r>
          </a:p>
        </p:txBody>
      </p:sp>
    </p:spTree>
    <p:extLst>
      <p:ext uri="{BB962C8B-B14F-4D97-AF65-F5344CB8AC3E}">
        <p14:creationId xmlns:p14="http://schemas.microsoft.com/office/powerpoint/2010/main" val="3207540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6B2E1-9182-B10A-1A45-C8422B73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39163"/>
          </a:xfrm>
        </p:spPr>
        <p:txBody>
          <a:bodyPr>
            <a:normAutofit fontScale="90000"/>
          </a:bodyPr>
          <a:lstStyle/>
          <a:p>
            <a:r>
              <a:rPr lang="fr-FR" dirty="0"/>
              <a:t>Logique de Métier d'AO Shop</a:t>
            </a:r>
            <a:br>
              <a:rPr lang="fr-FR" dirty="0"/>
            </a:br>
            <a:br>
              <a:rPr lang="fr-FR" dirty="0"/>
            </a:br>
            <a:r>
              <a:rPr lang="fr-FR" sz="2200" dirty="0"/>
              <a:t>Le fonctionnement d'AO Shop repose sur des règles métiers clés :</a:t>
            </a:r>
            <a:br>
              <a:rPr lang="en-US" dirty="0"/>
            </a:br>
            <a:endParaRPr lang="en-GB" dirty="0"/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415C435B-1209-2CD9-1CAC-F00EA351AF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3767427"/>
              </p:ext>
            </p:extLst>
          </p:nvPr>
        </p:nvGraphicFramePr>
        <p:xfrm>
          <a:off x="838200" y="2542032"/>
          <a:ext cx="10515600" cy="41422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9685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00796E-F702-42BF-899F-4ABCEEDBF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Inspiration du theme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F739564D-DE24-0250-E275-6647C45F4E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2" y="1575461"/>
            <a:ext cx="3825436" cy="5282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383A892-E231-4D97-F4F3-0CEE9F3B4E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825434" y="1575460"/>
            <a:ext cx="4541134" cy="528254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61EF21-8C75-9E93-CC5A-B94182DFA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568" y="1575461"/>
            <a:ext cx="3825433" cy="528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015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932</Words>
  <Application>Microsoft Office PowerPoint</Application>
  <PresentationFormat>Grand écran</PresentationFormat>
  <Paragraphs>64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AO Shop</vt:lpstr>
      <vt:lpstr>Configuration et Initialisation</vt:lpstr>
      <vt:lpstr>Inclusions &amp; Logique Utilitaire</vt:lpstr>
      <vt:lpstr>Système d'Authentification</vt:lpstr>
      <vt:lpstr>Ressources, Styles et Composants</vt:lpstr>
      <vt:lpstr>Interface Client : Achats &amp; Comparaisons</vt:lpstr>
      <vt:lpstr>Panier &amp; Commandes</vt:lpstr>
      <vt:lpstr>Engagement &amp; Abonnements</vt:lpstr>
      <vt:lpstr>Espace Admin : Opérations</vt:lpstr>
      <vt:lpstr>Espace Admin : Gestion des Produits</vt:lpstr>
      <vt:lpstr>Logique de Métier d'AO Shop  Le fonctionnement d'AO Shop repose sur des règles métiers clés : </vt:lpstr>
      <vt:lpstr>Inspiration du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benzinebazer</dc:creator>
  <cp:lastModifiedBy>Omar Said</cp:lastModifiedBy>
  <cp:revision>3</cp:revision>
  <dcterms:created xsi:type="dcterms:W3CDTF">2026-04-25T20:55:07Z</dcterms:created>
  <dcterms:modified xsi:type="dcterms:W3CDTF">2026-04-26T14:25:13Z</dcterms:modified>
</cp:coreProperties>
</file>